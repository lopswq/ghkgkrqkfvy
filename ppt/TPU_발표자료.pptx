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  <p:sldId id="265" r:id="rId10"/>
    <p:sldId id="264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3435"/>
    <a:srgbClr val="1E3435"/>
    <a:srgbClr val="00B8A9"/>
    <a:srgbClr val="1F3032"/>
    <a:srgbClr val="2030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22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3437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580D6-2133-CD90-A6BA-ED4B1E8D0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483DB8-44FF-AC98-C6CD-6E2C459E50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D43E5A-D53E-9A91-9376-5EDA9BAF3D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8F6A54-42BC-F0CE-5568-B9BBAB545D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7556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B8A36-7CAA-7936-4608-26601C178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CB1E71-1AA8-BCF5-31FB-3620CD5DBD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F76855-42F1-27BA-B916-CF305AF80F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F89230-E5CD-402B-192B-B16C770F2A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118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1E14184C-BF1C-1FEC-27DE-98213DFF1A85}"/>
              </a:ext>
            </a:extLst>
          </p:cNvPr>
          <p:cNvGrpSpPr/>
          <p:nvPr/>
        </p:nvGrpSpPr>
        <p:grpSpPr>
          <a:xfrm>
            <a:off x="9495052" y="173464"/>
            <a:ext cx="2377440" cy="2377440"/>
            <a:chOff x="10058400" y="0"/>
            <a:chExt cx="2377440" cy="2377440"/>
          </a:xfrm>
        </p:grpSpPr>
        <p:sp>
          <p:nvSpPr>
            <p:cNvPr id="2" name="Shape 0"/>
            <p:cNvSpPr/>
            <p:nvPr/>
          </p:nvSpPr>
          <p:spPr>
            <a:xfrm>
              <a:off x="10058400" y="0"/>
              <a:ext cx="2377440" cy="2377440"/>
            </a:xfrm>
            <a:prstGeom prst="ellipse">
              <a:avLst/>
            </a:prstGeom>
            <a:ln w="19050">
              <a:solidFill>
                <a:srgbClr val="3A3D40"/>
              </a:solidFill>
              <a:prstDash val="solid"/>
            </a:ln>
          </p:spPr>
        </p:sp>
        <p:sp>
          <p:nvSpPr>
            <p:cNvPr id="3" name="Shape 1"/>
            <p:cNvSpPr/>
            <p:nvPr/>
          </p:nvSpPr>
          <p:spPr>
            <a:xfrm>
              <a:off x="10462565" y="404165"/>
              <a:ext cx="1569110" cy="1569110"/>
            </a:xfrm>
            <a:prstGeom prst="ellipse">
              <a:avLst/>
            </a:prstGeom>
            <a:ln w="19050">
              <a:solidFill>
                <a:srgbClr val="3A3D40"/>
              </a:solidFill>
              <a:prstDash val="solid"/>
            </a:ln>
          </p:spPr>
        </p:sp>
        <p:sp>
          <p:nvSpPr>
            <p:cNvPr id="4" name="Shape 2"/>
            <p:cNvSpPr/>
            <p:nvPr/>
          </p:nvSpPr>
          <p:spPr>
            <a:xfrm>
              <a:off x="10842955" y="784555"/>
              <a:ext cx="808330" cy="808330"/>
            </a:xfrm>
            <a:prstGeom prst="ellipse">
              <a:avLst/>
            </a:prstGeom>
            <a:ln w="19050">
              <a:solidFill>
                <a:srgbClr val="3A3D40"/>
              </a:solidFill>
              <a:prstDash val="solid"/>
            </a:ln>
          </p:spPr>
        </p:sp>
        <p:sp>
          <p:nvSpPr>
            <p:cNvPr id="6" name="Shape 4"/>
            <p:cNvSpPr/>
            <p:nvPr/>
          </p:nvSpPr>
          <p:spPr>
            <a:xfrm>
              <a:off x="10515600" y="1133856"/>
              <a:ext cx="731520" cy="0"/>
            </a:xfrm>
            <a:prstGeom prst="line">
              <a:avLst/>
            </a:prstGeom>
            <a:noFill/>
            <a:ln w="19050">
              <a:solidFill>
                <a:srgbClr val="00B8A9"/>
              </a:solidFill>
              <a:prstDash val="solid"/>
            </a:ln>
          </p:spPr>
        </p:sp>
        <p:sp>
          <p:nvSpPr>
            <p:cNvPr id="7" name="Shape 5"/>
            <p:cNvSpPr/>
            <p:nvPr/>
          </p:nvSpPr>
          <p:spPr>
            <a:xfrm>
              <a:off x="10881360" y="914400"/>
              <a:ext cx="512064" cy="512064"/>
            </a:xfrm>
            <a:prstGeom prst="line">
              <a:avLst/>
            </a:prstGeom>
            <a:noFill/>
            <a:ln w="19050">
              <a:solidFill>
                <a:srgbClr val="00B8A9"/>
              </a:solidFill>
              <a:prstDash val="solid"/>
            </a:ln>
          </p:spPr>
        </p:sp>
        <p:sp>
          <p:nvSpPr>
            <p:cNvPr id="8" name="Shape 6"/>
            <p:cNvSpPr/>
            <p:nvPr/>
          </p:nvSpPr>
          <p:spPr>
            <a:xfrm>
              <a:off x="10413187" y="1031443"/>
              <a:ext cx="204826" cy="204826"/>
            </a:xfrm>
            <a:prstGeom prst="ellipse">
              <a:avLst/>
            </a:prstGeom>
            <a:solidFill>
              <a:srgbClr val="00B8A9"/>
            </a:solidFill>
            <a:ln/>
          </p:spPr>
        </p:sp>
        <p:sp>
          <p:nvSpPr>
            <p:cNvPr id="9" name="Shape 7"/>
            <p:cNvSpPr/>
            <p:nvPr/>
          </p:nvSpPr>
          <p:spPr>
            <a:xfrm>
              <a:off x="11144707" y="1031443"/>
              <a:ext cx="204826" cy="204826"/>
            </a:xfrm>
            <a:prstGeom prst="ellipse">
              <a:avLst/>
            </a:prstGeom>
            <a:solidFill>
              <a:srgbClr val="00B8A9"/>
            </a:solidFill>
            <a:ln/>
          </p:spPr>
        </p:sp>
        <p:sp>
          <p:nvSpPr>
            <p:cNvPr id="10" name="Shape 8"/>
            <p:cNvSpPr/>
            <p:nvPr/>
          </p:nvSpPr>
          <p:spPr>
            <a:xfrm>
              <a:off x="10852099" y="519379"/>
              <a:ext cx="204826" cy="204826"/>
            </a:xfrm>
            <a:prstGeom prst="ellipse">
              <a:avLst/>
            </a:prstGeom>
            <a:solidFill>
              <a:srgbClr val="00B8A9"/>
            </a:solidFill>
            <a:ln/>
          </p:spPr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1958FB3-D0F1-6BAF-5C74-72508AA65645}"/>
              </a:ext>
            </a:extLst>
          </p:cNvPr>
          <p:cNvGrpSpPr/>
          <p:nvPr/>
        </p:nvGrpSpPr>
        <p:grpSpPr>
          <a:xfrm>
            <a:off x="299922" y="5191962"/>
            <a:ext cx="1470355" cy="1360627"/>
            <a:chOff x="760781" y="5121613"/>
            <a:chExt cx="1470355" cy="1360627"/>
          </a:xfrm>
        </p:grpSpPr>
        <p:sp>
          <p:nvSpPr>
            <p:cNvPr id="11" name="Shape 9"/>
            <p:cNvSpPr/>
            <p:nvPr/>
          </p:nvSpPr>
          <p:spPr>
            <a:xfrm>
              <a:off x="914400" y="6043328"/>
              <a:ext cx="1097280" cy="0"/>
            </a:xfrm>
            <a:prstGeom prst="line">
              <a:avLst/>
            </a:prstGeom>
            <a:noFill/>
            <a:ln w="19050">
              <a:solidFill>
                <a:srgbClr val="3A3D40"/>
              </a:solidFill>
              <a:prstDash val="solid"/>
            </a:ln>
          </p:spPr>
        </p:sp>
        <p:sp>
          <p:nvSpPr>
            <p:cNvPr id="12" name="Shape 10"/>
            <p:cNvSpPr/>
            <p:nvPr/>
          </p:nvSpPr>
          <p:spPr>
            <a:xfrm>
              <a:off x="1463040" y="5714144"/>
              <a:ext cx="768096" cy="768096"/>
            </a:xfrm>
            <a:prstGeom prst="line">
              <a:avLst/>
            </a:prstGeom>
            <a:noFill/>
            <a:ln w="19050">
              <a:solidFill>
                <a:srgbClr val="3A3D40"/>
              </a:solidFill>
              <a:prstDash val="solid"/>
            </a:ln>
          </p:spPr>
        </p:sp>
        <p:sp>
          <p:nvSpPr>
            <p:cNvPr id="13" name="Shape 11"/>
            <p:cNvSpPr/>
            <p:nvPr/>
          </p:nvSpPr>
          <p:spPr>
            <a:xfrm>
              <a:off x="760781" y="5889709"/>
              <a:ext cx="307238" cy="307238"/>
            </a:xfrm>
            <a:prstGeom prst="ellipse">
              <a:avLst/>
            </a:prstGeom>
            <a:solidFill>
              <a:srgbClr val="3A3D40"/>
            </a:solidFill>
            <a:ln/>
          </p:spPr>
        </p:sp>
        <p:sp>
          <p:nvSpPr>
            <p:cNvPr id="14" name="Shape 12"/>
            <p:cNvSpPr/>
            <p:nvPr/>
          </p:nvSpPr>
          <p:spPr>
            <a:xfrm>
              <a:off x="1858061" y="5889709"/>
              <a:ext cx="307238" cy="307238"/>
            </a:xfrm>
            <a:prstGeom prst="ellipse">
              <a:avLst/>
            </a:prstGeom>
            <a:solidFill>
              <a:srgbClr val="3A3D40"/>
            </a:solidFill>
            <a:ln/>
          </p:spPr>
        </p:sp>
        <p:sp>
          <p:nvSpPr>
            <p:cNvPr id="15" name="Shape 13"/>
            <p:cNvSpPr/>
            <p:nvPr/>
          </p:nvSpPr>
          <p:spPr>
            <a:xfrm>
              <a:off x="1419149" y="5121613"/>
              <a:ext cx="307238" cy="307238"/>
            </a:xfrm>
            <a:prstGeom prst="ellipse">
              <a:avLst/>
            </a:prstGeom>
            <a:solidFill>
              <a:srgbClr val="3A3D40"/>
            </a:solidFill>
            <a:ln/>
          </p:spPr>
        </p:sp>
      </p:grpSp>
      <p:sp>
        <p:nvSpPr>
          <p:cNvPr id="16" name="Text 14"/>
          <p:cNvSpPr/>
          <p:nvPr/>
        </p:nvSpPr>
        <p:spPr>
          <a:xfrm>
            <a:off x="1035100" y="952533"/>
            <a:ext cx="299151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>
                <a:solidFill>
                  <a:srgbClr val="A9AC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고분자</a:t>
            </a:r>
            <a:r>
              <a:rPr lang="en-US" altLang="ko-KR">
                <a:solidFill>
                  <a:srgbClr val="A9AC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</a:t>
            </a:r>
            <a:r>
              <a:rPr lang="ko-KR" altLang="en-US">
                <a:solidFill>
                  <a:srgbClr val="A9AC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탄소화합물 탐색하기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9765" y="3574564"/>
            <a:ext cx="334217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>
                <a:solidFill>
                  <a:srgbClr val="00B8A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(열가소성 폴리우레탄)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966259" y="4722530"/>
            <a:ext cx="11291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gradFill>
                  <a:gsLst>
                    <a:gs pos="0">
                      <a:schemeClr val="bg1"/>
                    </a:gs>
                    <a:gs pos="51700">
                      <a:srgbClr val="9C9C9C"/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0" scaled="0"/>
                </a:gradFill>
                <a:latin typeface="D2Coding" panose="020B0609020101020101" pitchFamily="49" charset="-127"/>
                <a:ea typeface="D2Coding" panose="020B0609020101020101" pitchFamily="49" charset="-127"/>
                <a:cs typeface="맑은 고딕" pitchFamily="34" charset="-120"/>
              </a:rPr>
              <a:t>21205 </a:t>
            </a:r>
            <a:r>
              <a:rPr lang="ko-KR" altLang="en-US" sz="1400" b="1">
                <a:gradFill>
                  <a:gsLst>
                    <a:gs pos="0">
                      <a:schemeClr val="bg1"/>
                    </a:gs>
                    <a:gs pos="51700">
                      <a:srgbClr val="9C9C9C"/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0" scaled="0"/>
                </a:gradFill>
                <a:latin typeface="D2Coding" panose="020B0609020101020101" pitchFamily="49" charset="-127"/>
                <a:ea typeface="D2Coding" panose="020B0609020101020101" pitchFamily="49" charset="-127"/>
                <a:cs typeface="맑은 고딕" pitchFamily="34" charset="-120"/>
              </a:rPr>
              <a:t>김시영</a:t>
            </a:r>
            <a:endParaRPr lang="en-US" sz="1400" b="1" dirty="0">
              <a:gradFill>
                <a:gsLst>
                  <a:gs pos="0">
                    <a:schemeClr val="bg1"/>
                  </a:gs>
                  <a:gs pos="51700">
                    <a:srgbClr val="9C9C9C"/>
                  </a:gs>
                  <a:gs pos="100000">
                    <a:schemeClr val="tx1">
                      <a:lumMod val="75000"/>
                      <a:lumOff val="25000"/>
                    </a:schemeClr>
                  </a:gs>
                </a:gsLst>
                <a:lin ang="0" scaled="0"/>
              </a:gra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B871713C-F1CD-5BB3-5885-D3D743C13B0D}"/>
              </a:ext>
            </a:extLst>
          </p:cNvPr>
          <p:cNvGrpSpPr/>
          <p:nvPr/>
        </p:nvGrpSpPr>
        <p:grpSpPr>
          <a:xfrm>
            <a:off x="1183749" y="1956543"/>
            <a:ext cx="2694211" cy="1188721"/>
            <a:chOff x="1068019" y="2360825"/>
            <a:chExt cx="2694211" cy="1188721"/>
          </a:xfrm>
        </p:grpSpPr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7E865484-DCB6-79A5-570F-4F58365C9938}"/>
                </a:ext>
              </a:extLst>
            </p:cNvPr>
            <p:cNvSpPr/>
            <p:nvPr/>
          </p:nvSpPr>
          <p:spPr>
            <a:xfrm>
              <a:off x="1529906" y="2360826"/>
              <a:ext cx="1794930" cy="1188720"/>
            </a:xfrm>
            <a:prstGeom prst="rect">
              <a:avLst/>
            </a:prstGeom>
            <a:solidFill>
              <a:srgbClr val="1F3032"/>
            </a:solidFill>
            <a:ln>
              <a:solidFill>
                <a:srgbClr val="00B8A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CBDCB2EB-E208-C152-39BC-EBF85436CF15}"/>
                </a:ext>
              </a:extLst>
            </p:cNvPr>
            <p:cNvGrpSpPr/>
            <p:nvPr/>
          </p:nvGrpSpPr>
          <p:grpSpPr>
            <a:xfrm>
              <a:off x="1068019" y="2360825"/>
              <a:ext cx="2694211" cy="1188721"/>
              <a:chOff x="1068019" y="2360825"/>
              <a:chExt cx="2694211" cy="1188721"/>
            </a:xfrm>
          </p:grpSpPr>
          <p:sp>
            <p:nvSpPr>
              <p:cNvPr id="32" name="Shape 3">
                <a:extLst>
                  <a:ext uri="{FF2B5EF4-FFF2-40B4-BE49-F238E27FC236}">
                    <a16:creationId xmlns:a16="http://schemas.microsoft.com/office/drawing/2014/main" id="{232B89B2-6F99-F9E2-8B32-B6D12D38E45A}"/>
                  </a:ext>
                </a:extLst>
              </p:cNvPr>
              <p:cNvSpPr/>
              <p:nvPr/>
            </p:nvSpPr>
            <p:spPr>
              <a:xfrm>
                <a:off x="1068019" y="2360826"/>
                <a:ext cx="2694211" cy="1188720"/>
              </a:xfrm>
              <a:prstGeom prst="ellipse">
                <a:avLst/>
              </a:prstGeom>
              <a:solidFill>
                <a:srgbClr val="1F3032"/>
              </a:solidFill>
              <a:ln>
                <a:solidFill>
                  <a:srgbClr val="00B8A9"/>
                </a:solidFill>
              </a:ln>
            </p:spPr>
            <p:txBody>
              <a:bodyPr/>
              <a:lstStyle/>
              <a:p>
                <a:pPr algn="ctr"/>
                <a:endParaRPr lang="ko-KR" altLang="en-US" sz="6000" b="1">
                  <a:solidFill>
                    <a:schemeClr val="bg1"/>
                  </a:solidFill>
                  <a:latin typeface="Cambria" panose="02040503050406030204" pitchFamily="18" charset="0"/>
                </a:endParaRPr>
              </a:p>
            </p:txBody>
          </p:sp>
          <p:sp>
            <p:nvSpPr>
              <p:cNvPr id="33" name="Text 15">
                <a:extLst>
                  <a:ext uri="{FF2B5EF4-FFF2-40B4-BE49-F238E27FC236}">
                    <a16:creationId xmlns:a16="http://schemas.microsoft.com/office/drawing/2014/main" id="{34C0A005-E705-98E4-8BF7-9631F1F20DE2}"/>
                  </a:ext>
                </a:extLst>
              </p:cNvPr>
              <p:cNvSpPr/>
              <p:nvPr/>
            </p:nvSpPr>
            <p:spPr>
              <a:xfrm>
                <a:off x="1529906" y="2360825"/>
                <a:ext cx="1794930" cy="118872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7200" b="1">
                    <a:solidFill>
                      <a:srgbClr val="FFFFFF"/>
                    </a:solidFill>
                    <a:latin typeface="Cambria" pitchFamily="34" charset="0"/>
                    <a:ea typeface="Cambria" pitchFamily="34" charset="-122"/>
                    <a:cs typeface="Cambria" pitchFamily="34" charset="-120"/>
                  </a:rPr>
                  <a:t>TPU</a:t>
                </a:r>
                <a:endParaRPr lang="en-US" sz="7200" dirty="0"/>
              </a:p>
            </p:txBody>
          </p:sp>
        </p:grpSp>
      </p:grp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14830445-3F44-13A5-80CB-24F9D065E092}"/>
              </a:ext>
            </a:extLst>
          </p:cNvPr>
          <p:cNvSpPr/>
          <p:nvPr/>
        </p:nvSpPr>
        <p:spPr>
          <a:xfrm>
            <a:off x="914400" y="4723002"/>
            <a:ext cx="3303051" cy="45719"/>
          </a:xfrm>
          <a:prstGeom prst="roundRect">
            <a:avLst/>
          </a:prstGeom>
          <a:gradFill>
            <a:gsLst>
              <a:gs pos="59000">
                <a:srgbClr val="1F3435"/>
              </a:gs>
              <a:gs pos="0">
                <a:srgbClr val="00B8A9"/>
              </a:gs>
              <a:gs pos="100000">
                <a:srgbClr val="1E3435"/>
              </a:gs>
            </a:gsLst>
            <a:lin ang="0" scaled="0"/>
          </a:gradFill>
          <a:ln w="25400">
            <a:noFill/>
            <a:prstDash val="solid"/>
          </a:ln>
        </p:spPr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8431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2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선정 동기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475720" y="502920"/>
            <a:ext cx="91440" cy="9144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737360"/>
            <a:ext cx="420624" cy="420624"/>
          </a:xfrm>
          <a:prstGeom prst="ellipse">
            <a:avLst/>
          </a:prstGeom>
          <a:solidFill>
            <a:srgbClr val="20222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373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1737360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22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3D 모델링·프린팅에 대한 관심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2578608"/>
            <a:ext cx="420624" cy="420624"/>
          </a:xfrm>
          <a:prstGeom prst="ellipse">
            <a:avLst/>
          </a:prstGeom>
          <a:solidFill>
            <a:srgbClr val="20222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78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578608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22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필라멘트별 성질 차이 발견 (PLA·ABS·TPU)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0080" y="3419856"/>
            <a:ext cx="420624" cy="420624"/>
          </a:xfrm>
          <a:prstGeom prst="ellipse">
            <a:avLst/>
          </a:prstGeom>
          <a:solidFill>
            <a:srgbClr val="20222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198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3419856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22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TPU의 유연성에 주목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40080" y="4261104"/>
            <a:ext cx="420624" cy="420624"/>
          </a:xfrm>
          <a:prstGeom prst="ellipse">
            <a:avLst/>
          </a:prstGeom>
          <a:solidFill>
            <a:srgbClr val="20222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261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4261104"/>
            <a:ext cx="5943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22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과학과제연구 로봇 바퀴 제작에 활용</a:t>
            </a:r>
            <a:endParaRPr lang="en-US" sz="1700" dirty="0"/>
          </a:p>
        </p:txBody>
      </p:sp>
      <p:pic>
        <p:nvPicPr>
          <p:cNvPr id="16" name="Image 0" descr="/home/claude/printer_illustr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463040"/>
            <a:ext cx="4206240" cy="192024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7498080" y="1463040"/>
            <a:ext cx="4206240" cy="1920240"/>
          </a:xfrm>
          <a:prstGeom prst="rect">
            <a:avLst/>
          </a:prstGeom>
          <a:ln w="12700">
            <a:solidFill>
              <a:srgbClr val="E0E0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98080" y="3429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6F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과과연 TPU 로봇 바퀴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F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TPU(열가소성 폴리우레탄) 탐구  |  12반 21205  김시영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/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2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2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구조식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B6F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다이아이소사이아네이트 + 다이올 → 선형 폴리우레탄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025396" y="1600200"/>
            <a:ext cx="8138160" cy="5891349"/>
          </a:xfrm>
          <a:prstGeom prst="rect">
            <a:avLst/>
          </a:prstGeom>
          <a:solidFill>
            <a:srgbClr val="FFFFFF"/>
          </a:solidFill>
          <a:ln w="12700">
            <a:solidFill>
              <a:srgbClr val="D8DFE3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5" name="Image 0" descr="/home/claude/tpu_stru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2556" y="1737360"/>
            <a:ext cx="7863840" cy="561702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F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TPU(열가소성 폴리우레탄) 탐구  |  12반 21205  김시영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/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2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화학반응식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568196" y="1234440"/>
            <a:ext cx="9052560" cy="1463981"/>
          </a:xfrm>
          <a:prstGeom prst="rect">
            <a:avLst/>
          </a:prstGeom>
          <a:solidFill>
            <a:srgbClr val="F1F2F1"/>
          </a:solidFill>
          <a:ln/>
        </p:spPr>
      </p:sp>
      <p:pic>
        <p:nvPicPr>
          <p:cNvPr id="4" name="Image 0" descr="/home/claude/reaction_equ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076" y="1371600"/>
            <a:ext cx="8686800" cy="114394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22960" y="2907792"/>
            <a:ext cx="146304" cy="146304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6" name="Text 3"/>
          <p:cNvSpPr/>
          <p:nvPr/>
        </p:nvSpPr>
        <p:spPr>
          <a:xfrm>
            <a:off x="1143000" y="2834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22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결합 생성   </a:t>
            </a:r>
            <a:r>
              <a:rPr lang="en-US" sz="1700" dirty="0">
                <a:solidFill>
                  <a:srgbClr val="2022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NCO기 + OH기 → 우레탄 결합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" y="3474720"/>
            <a:ext cx="146304" cy="146304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8" name="Text 5"/>
          <p:cNvSpPr/>
          <p:nvPr/>
        </p:nvSpPr>
        <p:spPr>
          <a:xfrm>
            <a:off x="1143000" y="340156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22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부산물 없음   </a:t>
            </a:r>
            <a:r>
              <a:rPr lang="en-US" sz="1700" dirty="0">
                <a:solidFill>
                  <a:srgbClr val="2022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H만 자리 이동, 물 등 부산물 없음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22960" y="4041648"/>
            <a:ext cx="146304" cy="146304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396849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22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첨가중합   </a:t>
            </a:r>
            <a:r>
              <a:rPr lang="en-US" sz="1700" dirty="0">
                <a:solidFill>
                  <a:srgbClr val="2022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원자 손실 없이 결합 반복 → TPU</a:t>
            </a:r>
            <a:endParaRPr lang="en-US" sz="1700" dirty="0"/>
          </a:p>
        </p:txBody>
      </p:sp>
      <p:pic>
        <p:nvPicPr>
          <p:cNvPr id="11" name="Image 1" descr="/home/claude/kobe_fig1_a_cropp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1196" y="4892040"/>
            <a:ext cx="6766560" cy="1194099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2711196" y="4892040"/>
            <a:ext cx="6766560" cy="1194099"/>
          </a:xfrm>
          <a:prstGeom prst="rect">
            <a:avLst/>
          </a:prstGeom>
          <a:ln w="12700">
            <a:solidFill>
              <a:srgbClr val="D8DFE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711196" y="6131859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6F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출처: TSUDA Akihiko, Kobe University, EurekAlert!, 2023 (Usage Restrictions: None)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F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TPU(열가소성 폴리우레탄) 탐구  |  12반 21205  김시영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/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2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022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 및 유용성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2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성질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10896" cy="310896"/>
          </a:xfrm>
          <a:prstGeom prst="ellipse">
            <a:avLst/>
          </a:prstGeom>
          <a:solidFill>
            <a:srgbClr val="202225"/>
          </a:solidFill>
          <a:ln/>
        </p:spPr>
      </p:sp>
      <p:sp>
        <p:nvSpPr>
          <p:cNvPr id="5" name="Shape 3"/>
          <p:cNvSpPr/>
          <p:nvPr/>
        </p:nvSpPr>
        <p:spPr>
          <a:xfrm>
            <a:off x="649224" y="1792224"/>
            <a:ext cx="109728" cy="10972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69164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2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탄성·신축성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21992"/>
            <a:ext cx="310896" cy="310896"/>
          </a:xfrm>
          <a:prstGeom prst="ellipse">
            <a:avLst/>
          </a:prstGeom>
          <a:solidFill>
            <a:srgbClr val="202225"/>
          </a:solidFill>
          <a:ln/>
        </p:spPr>
      </p:sp>
      <p:sp>
        <p:nvSpPr>
          <p:cNvPr id="8" name="Shape 6"/>
          <p:cNvSpPr/>
          <p:nvPr/>
        </p:nvSpPr>
        <p:spPr>
          <a:xfrm>
            <a:off x="649224" y="2322576"/>
            <a:ext cx="109728" cy="10972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22199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2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내마모성·충격 흡수성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752344"/>
            <a:ext cx="310896" cy="310896"/>
          </a:xfrm>
          <a:prstGeom prst="ellipse">
            <a:avLst/>
          </a:prstGeom>
          <a:solidFill>
            <a:srgbClr val="202225"/>
          </a:solidFill>
          <a:ln/>
        </p:spPr>
      </p:sp>
      <p:sp>
        <p:nvSpPr>
          <p:cNvPr id="11" name="Shape 9"/>
          <p:cNvSpPr/>
          <p:nvPr/>
        </p:nvSpPr>
        <p:spPr>
          <a:xfrm>
            <a:off x="649224" y="2852928"/>
            <a:ext cx="109728" cy="10972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75234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2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내유성·내후성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3520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022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 사례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96469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F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977640"/>
            <a:ext cx="9646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022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신발 밑창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650492" y="3977640"/>
            <a:ext cx="1106424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FE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50492" y="3977640"/>
            <a:ext cx="1106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022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케이블 피복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894076" y="3977640"/>
            <a:ext cx="167335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FE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94076" y="3977640"/>
            <a:ext cx="1673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022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드론 프로펠러 가드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1248156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FE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434840"/>
            <a:ext cx="12481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022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 케이스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933956" y="4434840"/>
            <a:ext cx="1956816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8DFE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33956" y="4434840"/>
            <a:ext cx="19568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20222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3D 프린팅 로봇 바퀴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0" y="1188720"/>
            <a:ext cx="5212080" cy="4663440"/>
          </a:xfrm>
          <a:prstGeom prst="roundRect">
            <a:avLst>
              <a:gd name="adj" fmla="val 1569"/>
            </a:avLst>
          </a:prstGeom>
          <a:solidFill>
            <a:srgbClr val="202225"/>
          </a:solidFill>
          <a:ln/>
          <a:effectLst>
            <a:outerShdw blurRad="101600" dist="25400" dir="54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766560" y="15087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B8A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유용성 사례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766560" y="19659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로봇 바퀴 × TPU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6766560" y="2606040"/>
            <a:ext cx="4480560" cy="0"/>
          </a:xfrm>
          <a:prstGeom prst="line">
            <a:avLst/>
          </a:prstGeom>
          <a:noFill/>
          <a:ln w="12700">
            <a:solidFill>
              <a:srgbClr val="3A3D4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0" y="28803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A9ACA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딱딱한 소재만 사용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766560" y="32004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5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마찰력 부족 · 충격 그대로 전달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66560" y="38404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0B8A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TPU 사용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766560" y="41605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4D5D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접지력 + 충격 흡수 동시 확보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66560" y="489204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C9C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과학과제연구에서 TPU로 바퀴를 제작하는 것도</a:t>
            </a:r>
            <a:endParaRPr lang="en-US" sz="12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C9CBC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바로 이러한 유용성 때문이다.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6F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TPU(열가소성 폴리우레탄) 탐구  |  12반 21205  김시영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789920" y="6537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F7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/ 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FB3BD-B603-BF29-A3AE-78A52CE5D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그림 37">
            <a:extLst>
              <a:ext uri="{FF2B5EF4-FFF2-40B4-BE49-F238E27FC236}">
                <a16:creationId xmlns:a16="http://schemas.microsoft.com/office/drawing/2014/main" id="{8F96A168-CD23-5850-F847-892052BCAD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5804" y="642025"/>
            <a:ext cx="9269380" cy="5214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7221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2C10E-D84B-400F-3F3E-626C3C33A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그림 35">
            <a:extLst>
              <a:ext uri="{FF2B5EF4-FFF2-40B4-BE49-F238E27FC236}">
                <a16:creationId xmlns:a16="http://schemas.microsoft.com/office/drawing/2014/main" id="{981EED5B-A7C2-632C-3ED8-E1B4E9F7DE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00" y="782688"/>
            <a:ext cx="10059349" cy="5658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791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7073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4405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59000">
              <a:srgbClr val="1F3435"/>
            </a:gs>
            <a:gs pos="0">
              <a:srgbClr val="00B8A9"/>
            </a:gs>
            <a:gs pos="100000">
              <a:srgbClr val="1E3435"/>
            </a:gs>
          </a:gsLst>
          <a:lin ang="0" scaled="0"/>
        </a:gradFill>
        <a:ln w="25400">
          <a:noFill/>
          <a:prstDash val="solid"/>
        </a:ln>
      </a:spPr>
      <a:bodyPr rtlCol="0" anchor="ctr"/>
      <a:lstStyle>
        <a:defPPr algn="ctr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228</Words>
  <Application>Microsoft Office PowerPoint</Application>
  <PresentationFormat>와이드스크린</PresentationFormat>
  <Paragraphs>55</Paragraphs>
  <Slides>10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D2Coding</vt:lpstr>
      <vt:lpstr>맑은 고딕</vt:lpstr>
      <vt:lpstr>Arial</vt:lpstr>
      <vt:lpstr>Cambria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zz Z</cp:lastModifiedBy>
  <cp:revision>2</cp:revision>
  <dcterms:created xsi:type="dcterms:W3CDTF">2026-09-13T06:34:02Z</dcterms:created>
  <dcterms:modified xsi:type="dcterms:W3CDTF">2026-09-13T10:23:42Z</dcterms:modified>
</cp:coreProperties>
</file>